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2194560" cy="50800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1A1A1F"/>
                </a:solidFill>
                <a:latin typeface="Calibri"/>
              </a:rPr>
              <a:t>Survival Prediction under Distribution Shift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55A66"/>
                </a:solidFill>
                <a:latin typeface="Calibri"/>
              </a:rPr>
              <a:t>QRT Data Challenge — Overall Survival Prediction for patients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947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55A66"/>
                </a:solidFill>
                <a:latin typeface="Calibri"/>
              </a:rPr>
              <a:t>diagnosed with Myeloid Leukemia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A1F"/>
                </a:solidFill>
                <a:latin typeface="Calibri"/>
              </a:rPr>
              <a:t>Chawki Nasrallah  ·  PhD Researcher (Biomedical Engineering, AI/Data science in Health)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577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55A66"/>
                </a:solidFill>
                <a:latin typeface="Calibri"/>
              </a:rPr>
              <a:t>github.com/chawki-nasrallah/qrt-mds-aml-survival  ·  chawki.gnasrallah@gmail.com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371600" cy="38100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1F"/>
                </a:solidFill>
                <a:latin typeface="Calibri"/>
              </a:rPr>
              <a:t>TL;DR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555A66"/>
                </a:solidFill>
                <a:latin typeface="Calibri"/>
              </a:rPr>
              <a:t>First online data-science competition.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55A66"/>
                </a:solidFill>
                <a:latin typeface="Calibri"/>
              </a:rPr>
              <a:t>Public leaderboard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2D6A4F"/>
                </a:solidFill>
                <a:latin typeface="Calibri"/>
              </a:rPr>
              <a:t>0.7685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033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A1A1F"/>
                </a:solidFill>
                <a:latin typeface="Calibri"/>
              </a:rPr>
              <a:t>Rank 11 / 743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55A66"/>
                </a:solidFill>
                <a:latin typeface="Calibri"/>
              </a:rPr>
              <a:t>Private leaderboard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0604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B83A3A"/>
                </a:solidFill>
                <a:latin typeface="Calibri"/>
              </a:rPr>
              <a:t>0.7124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7033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A1A1F"/>
                </a:solidFill>
                <a:latin typeface="Calibri"/>
              </a:rPr>
              <a:t>Rank 189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29200"/>
            <a:ext cx="11247120" cy="12700"/>
          </a:xfrm>
          <a:prstGeom prst="rect">
            <a:avLst/>
          </a:prstGeom>
          <a:solidFill>
            <a:srgbClr val="C9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2120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1A1A1F"/>
                </a:solidFill>
                <a:latin typeface="Calibri"/>
              </a:rPr>
              <a:t>The gap between those two numbers is the most interesting thing in this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A66"/>
                </a:solidFill>
                <a:latin typeface="Calibri"/>
              </a:rPr>
              <a:t>QRT — Overall Survival Prediction for Myeloid Leukemia · Chawki Nasrallah,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5A66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371600" cy="38100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1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A1A1F"/>
                </a:solidFill>
                <a:latin typeface="Calibri"/>
              </a:rPr>
              <a:t>Predict overall survival in MDS / AML patients from clinical + genetic features.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55A66"/>
                </a:solidFill>
                <a:latin typeface="Calibri"/>
              </a:rPr>
              <a:t>Inputs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5486400" cy="2743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83A3A"/>
                </a:solidFill>
                <a:latin typeface="Calibri"/>
              </a:rPr>
              <a:t>■  </a:t>
            </a:r>
            <a:r>
              <a:rPr sz="1500">
                <a:solidFill>
                  <a:srgbClr val="1A1A1F"/>
                </a:solidFill>
                <a:latin typeface="Calibri"/>
              </a:rPr>
              <a:t>Clinical: BM blast %, WBC, hemoglobin, platelets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B83A3A"/>
                </a:solidFill>
                <a:latin typeface="Calibri"/>
              </a:rPr>
              <a:t>■  </a:t>
            </a:r>
            <a:r>
              <a:rPr sz="1500">
                <a:solidFill>
                  <a:srgbClr val="1A1A1F"/>
                </a:solidFill>
                <a:latin typeface="Calibri"/>
              </a:rPr>
              <a:t>Cytogenetics: ISCN-format karyotype string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B83A3A"/>
                </a:solidFill>
                <a:latin typeface="Calibri"/>
              </a:rPr>
              <a:t>■  </a:t>
            </a:r>
            <a:r>
              <a:rPr sz="1500">
                <a:solidFill>
                  <a:srgbClr val="1A1A1F"/>
                </a:solidFill>
                <a:latin typeface="Calibri"/>
              </a:rPr>
              <a:t>Molecular: per-mutation records (gene, effect, VAF, protein change)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5603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55A66"/>
                </a:solidFill>
                <a:latin typeface="Calibri"/>
              </a:rPr>
              <a:t>Target &amp; 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926080"/>
            <a:ext cx="5486400" cy="2743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83A3A"/>
                </a:solidFill>
                <a:latin typeface="Calibri"/>
              </a:rPr>
              <a:t>■  </a:t>
            </a:r>
            <a:r>
              <a:rPr sz="1500">
                <a:solidFill>
                  <a:srgbClr val="1A1A1F"/>
                </a:solidFill>
                <a:latin typeface="Calibri"/>
              </a:rPr>
              <a:t>(OS_YEARS, OS_STATUS) — time-to-event survival outcome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B83A3A"/>
                </a:solidFill>
                <a:latin typeface="Calibri"/>
              </a:rPr>
              <a:t>■  </a:t>
            </a:r>
            <a:r>
              <a:rPr sz="1500">
                <a:solidFill>
                  <a:srgbClr val="1A1A1F"/>
                </a:solidFill>
                <a:latin typeface="Calibri"/>
              </a:rPr>
              <a:t>IPCW-C: censoring-aware concordance index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B83A3A"/>
                </a:solidFill>
                <a:latin typeface="Calibri"/>
              </a:rPr>
              <a:t>■  </a:t>
            </a:r>
            <a:r>
              <a:rPr sz="1500">
                <a:solidFill>
                  <a:srgbClr val="1A1A1F"/>
                </a:solidFill>
                <a:latin typeface="Calibri"/>
              </a:rPr>
              <a:t>Rewards correct pairwise risk orderings, not point predictions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486400"/>
            <a:ext cx="11247120" cy="12700"/>
          </a:xfrm>
          <a:prstGeom prst="rect">
            <a:avLst/>
          </a:prstGeom>
          <a:solidFill>
            <a:srgbClr val="C9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6692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55A66"/>
                </a:solidFill>
                <a:latin typeface="Calibri"/>
              </a:rPr>
              <a:t>Constraint: 2 leaderboard submissions per day.   This will matter later.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A66"/>
                </a:solidFill>
                <a:latin typeface="Calibri"/>
              </a:rPr>
              <a:t>QRT — Overall Survival Prediction for Myeloid Leukemia · Chawki Nasrallah,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5A66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371600" cy="38100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A1F"/>
                </a:solidFill>
                <a:latin typeface="Calibri"/>
              </a:rPr>
              <a:t>Distribution shift: cohort composition and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A66"/>
                </a:solidFill>
                <a:latin typeface="Calibri"/>
              </a:rPr>
              <a:t>Train and test were drawn from different mixtures of the same disease spectrum.</a:t>
            </a:r>
          </a:p>
        </p:txBody>
      </p:sp>
      <p:pic>
        <p:nvPicPr>
          <p:cNvPr id="6" name="Picture 5" descr="cohort_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103120"/>
            <a:ext cx="5669280" cy="3818269"/>
          </a:xfrm>
          <a:prstGeom prst="rect">
            <a:avLst/>
          </a:prstGeom>
        </p:spPr>
      </p:pic>
      <p:pic>
        <p:nvPicPr>
          <p:cNvPr id="7" name="Picture 6" descr="bm_blast_den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103120"/>
            <a:ext cx="5669280" cy="360813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760720"/>
            <a:ext cx="11247120" cy="12700"/>
          </a:xfrm>
          <a:prstGeom prst="rect">
            <a:avLst/>
          </a:prstGeom>
          <a:solidFill>
            <a:srgbClr val="C9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897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F"/>
                </a:solidFill>
                <a:latin typeface="Calibri"/>
              </a:rPr>
              <a:t>Public test has ≈4× the AML share of train (5% → 19%); median blast doubles (3% → 6%).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55A66"/>
                </a:solidFill>
                <a:latin typeface="Calibri"/>
              </a:rPr>
              <a:t>Standard covariate-shift fixes (reweighting, far-patient removal) all came back null on the LB — cross-cohort augmentation was the route that worked.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A66"/>
                </a:solidFill>
                <a:latin typeface="Calibri"/>
              </a:rPr>
              <a:t>QRT — Overall Survival Prediction for Myeloid Leukemia · Chawki Nasrallah,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5A66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371600" cy="38100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A1A1F"/>
                </a:solidFill>
                <a:latin typeface="Calibri"/>
              </a:rPr>
              <a:t>...and so do the survival outcomes those features predict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A66"/>
                </a:solidFill>
                <a:latin typeface="Calibri"/>
              </a:rPr>
              <a:t>AML patients die faster — so a test set enriched for AML is implicitly enriched for early-death labels.</a:t>
            </a:r>
          </a:p>
        </p:txBody>
      </p:sp>
      <p:pic>
        <p:nvPicPr>
          <p:cNvPr id="6" name="Picture 5" descr="survival_by_co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03120"/>
            <a:ext cx="5459659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246888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55A66"/>
                </a:solidFill>
                <a:latin typeface="Calibri"/>
              </a:rPr>
              <a:t>Train cohort (from KM curve)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926080"/>
            <a:ext cx="4846320" cy="2743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B83A3A"/>
                </a:solidFill>
                <a:latin typeface="Calibri"/>
              </a:rPr>
              <a:t>■  </a:t>
            </a:r>
            <a:r>
              <a:rPr sz="1200">
                <a:solidFill>
                  <a:srgbClr val="1A1A1F"/>
                </a:solidFill>
                <a:latin typeface="Calibri"/>
              </a:rPr>
              <a:t>MDS: 5-yr survival ≈ 38%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B83A3A"/>
                </a:solidFill>
                <a:latin typeface="Calibri"/>
              </a:rPr>
              <a:t>■  </a:t>
            </a:r>
            <a:r>
              <a:rPr sz="1200">
                <a:solidFill>
                  <a:srgbClr val="1A1A1F"/>
                </a:solidFill>
                <a:latin typeface="Calibri"/>
              </a:rPr>
              <a:t>AML: 5-yr survival ≈ 12%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B83A3A"/>
                </a:solidFill>
                <a:latin typeface="Calibri"/>
              </a:rPr>
              <a:t>■  </a:t>
            </a:r>
            <a:r>
              <a:rPr sz="1200">
                <a:solidFill>
                  <a:srgbClr val="1A1A1F"/>
                </a:solidFill>
                <a:latin typeface="Calibri"/>
              </a:rPr>
              <a:t>Median time-to-death (event):  MDS 1.43 y,  AML 0.86 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60720"/>
            <a:ext cx="11247120" cy="12700"/>
          </a:xfrm>
          <a:prstGeom prst="rect">
            <a:avLst/>
          </a:prstGeom>
          <a:solidFill>
            <a:srgbClr val="C9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897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F"/>
                </a:solidFill>
                <a:latin typeface="Calibri"/>
              </a:rPr>
              <a:t>IPCW-C rewards correct ordering among high-risk patients — the very ones the test set is enriched for.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A66"/>
                </a:solidFill>
                <a:latin typeface="Calibri"/>
              </a:rPr>
              <a:t>QRT — Overall Survival Prediction for Myeloid Leukemia · Chawki Nasrallah,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5A66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371600" cy="38100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1F"/>
                </a:solidFill>
                <a:latin typeface="Calibri"/>
              </a:rPr>
              <a:t>Pipeline: two complementary survival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5303520" cy="3291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C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0" y="1737360"/>
            <a:ext cx="5303520" cy="3291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C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83A3A"/>
                </a:solidFill>
                <a:latin typeface="Calibri"/>
              </a:rPr>
              <a:t>BASELINE  (v12)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1F"/>
                </a:solidFill>
                <a:latin typeface="Calibri"/>
              </a:rPr>
              <a:t>Wide features, single RSF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5029200" cy="2103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B83A3A"/>
                </a:solidFill>
                <a:latin typeface="Calibri"/>
              </a:rPr>
              <a:t>■  </a:t>
            </a:r>
            <a:r>
              <a:rPr sz="1300">
                <a:solidFill>
                  <a:srgbClr val="1A1A1F"/>
                </a:solidFill>
                <a:latin typeface="Calibri"/>
              </a:rPr>
              <a:t>~1800 features: gene one-hots × VAF, cyto one-hots, EFFECT, PROTEIN_CHANGE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B83A3A"/>
                </a:solidFill>
                <a:latin typeface="Calibri"/>
              </a:rPr>
              <a:t>■  </a:t>
            </a:r>
            <a:r>
              <a:rPr sz="1300">
                <a:solidFill>
                  <a:srgbClr val="1A1A1F"/>
                </a:solidFill>
                <a:latin typeface="Calibri"/>
              </a:rPr>
              <a:t>Dense IPSS-M score (Bernard 2022 NEJM Evidence)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B83A3A"/>
                </a:solidFill>
                <a:latin typeface="Calibri"/>
              </a:rPr>
              <a:t>■  </a:t>
            </a:r>
            <a:r>
              <a:rPr sz="1300">
                <a:solidFill>
                  <a:srgbClr val="1A1A1F"/>
                </a:solidFill>
                <a:latin typeface="Calibri"/>
              </a:rPr>
              <a:t>Random Survival Forest, 5000 trees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D6A4F"/>
                </a:solidFill>
                <a:latin typeface="Calibri"/>
              </a:rPr>
              <a:t>Public LB: 0.7637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828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83A3A"/>
                </a:solidFill>
                <a:latin typeface="Calibri"/>
              </a:rPr>
              <a:t>SPECIALIST  (v22)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945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1F"/>
                </a:solidFill>
                <a:latin typeface="Calibri"/>
              </a:rPr>
              <a:t>23 biologically-robust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743200"/>
            <a:ext cx="5029200" cy="2103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B83A3A"/>
                </a:solidFill>
                <a:latin typeface="Calibri"/>
              </a:rPr>
              <a:t>■  </a:t>
            </a:r>
            <a:r>
              <a:rPr sz="1300">
                <a:solidFill>
                  <a:srgbClr val="1A1A1F"/>
                </a:solidFill>
                <a:latin typeface="Calibri"/>
              </a:rPr>
              <a:t>Clinical + curated cyto + curated genes + engineered scores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B83A3A"/>
                </a:solidFill>
                <a:latin typeface="Calibri"/>
              </a:rPr>
              <a:t>■  </a:t>
            </a:r>
            <a:r>
              <a:rPr sz="1300">
                <a:solidFill>
                  <a:srgbClr val="1A1A1F"/>
                </a:solidFill>
                <a:latin typeface="Calibri"/>
              </a:rPr>
              <a:t>Trained on QRT + 583 Tazi patients (propensity-selected)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B83A3A"/>
                </a:solidFill>
                <a:latin typeface="Calibri"/>
              </a:rPr>
              <a:t>■  </a:t>
            </a:r>
            <a:r>
              <a:rPr sz="1300">
                <a:solidFill>
                  <a:srgbClr val="1A1A1F"/>
                </a:solidFill>
                <a:latin typeface="Calibri"/>
              </a:rPr>
              <a:t>Single RSF (500 trees)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5720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D6A4F"/>
                </a:solidFill>
                <a:latin typeface="Calibri"/>
              </a:rPr>
              <a:t>Public LB: 0.7645 alone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486400"/>
            <a:ext cx="11247120" cy="12700"/>
          </a:xfrm>
          <a:prstGeom prst="rect">
            <a:avLst/>
          </a:prstGeom>
          <a:solidFill>
            <a:srgbClr val="C9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6692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F"/>
                </a:solidFill>
                <a:latin typeface="Calibri"/>
              </a:rPr>
              <a:t>FINAL  =  0.30 · rank(baseline)  +  0.70 · rank(specialist)    →  Public LB: 0.7685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172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55A66"/>
                </a:solidFill>
                <a:latin typeface="Calibri"/>
              </a:rPr>
              <a:t>rank-blend (not raw): two RSF architectures live on different scales, ~[218,2039] vs ~[127,1204]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A66"/>
                </a:solidFill>
                <a:latin typeface="Calibri"/>
              </a:rPr>
              <a:t>QRT — Overall Survival Prediction for Myeloid Leukemia · Chawki Nasrallah,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5A66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371600" cy="38100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1F"/>
                </a:solidFill>
                <a:latin typeface="Calibri"/>
              </a:rPr>
              <a:t>Baseline detail: 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A66"/>
                </a:solidFill>
                <a:latin typeface="Calibri"/>
              </a:rPr>
              <a:t>Combining five sources of signal into ~1800 columns.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43000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B83A3A"/>
                </a:solidFill>
                <a:latin typeface="Calibri"/>
              </a:rPr>
              <a:t>■  </a:t>
            </a:r>
            <a:r>
              <a:rPr sz="1200">
                <a:solidFill>
                  <a:srgbClr val="1A1A1F"/>
                </a:solidFill>
                <a:latin typeface="Calibri"/>
              </a:rPr>
              <a:t>Clinical numerics — log1p transform compresses right-skewed counts (WBC, PLT) so the tree splits aren't dominated by extreme values;  MICE imputation iteratively regresses each variable on the others (RandomForest as regressor) to preserve cross-feature correlations that median-fill would destroy.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B83A3A"/>
                </a:solidFill>
                <a:latin typeface="Calibri"/>
              </a:rPr>
              <a:t>■  </a:t>
            </a:r>
            <a:r>
              <a:rPr sz="1200">
                <a:solidFill>
                  <a:srgbClr val="1A1A1F"/>
                </a:solidFill>
                <a:latin typeface="Calibri"/>
              </a:rPr>
              <a:t>Per-gene one-hot weighted by max VAF — captures both presence (was the gene mutated?) and allelic burden (how clonal is the mutation?).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B83A3A"/>
                </a:solidFill>
                <a:latin typeface="Calibri"/>
              </a:rPr>
              <a:t>■  </a:t>
            </a:r>
            <a:r>
              <a:rPr sz="1200">
                <a:solidFill>
                  <a:srgbClr val="1A1A1F"/>
                </a:solidFill>
                <a:latin typeface="Calibri"/>
              </a:rPr>
              <a:t>Two cytogenetic parsers — a broad regex extracts every +/−, translocation and inversion (high recall, surfaces rare lesions); a curated parser produces clean IPSS-R-aligned flags (high precision).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B83A3A"/>
                </a:solidFill>
                <a:latin typeface="Calibri"/>
              </a:rPr>
              <a:t>■  </a:t>
            </a:r>
            <a:r>
              <a:rPr sz="1200">
                <a:solidFill>
                  <a:srgbClr val="1A1A1F"/>
                </a:solidFill>
                <a:latin typeface="Calibri"/>
              </a:rPr>
              <a:t>EFFECT and PROTEIN_CHANGE — mutation type (missense, ITD, PTD, …) and residue position parsed from HGVS strings like p.R882H.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B83A3A"/>
                </a:solidFill>
                <a:latin typeface="Calibri"/>
              </a:rPr>
              <a:t>■  </a:t>
            </a:r>
            <a:r>
              <a:rPr sz="1200">
                <a:solidFill>
                  <a:srgbClr val="1A1A1F"/>
                </a:solidFill>
                <a:latin typeface="Calibri"/>
              </a:rPr>
              <a:t>IPSS-M score (Bernard 2022) — the full Molecular International Prognostic Scoring System as a single dense feature.  Carries ≈42% of tree-ensemble importance.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B83A3A"/>
                </a:solidFill>
                <a:latin typeface="Calibri"/>
              </a:rPr>
              <a:t>■  </a:t>
            </a:r>
            <a:r>
              <a:rPr sz="1200">
                <a:solidFill>
                  <a:srgbClr val="1A1A1F"/>
                </a:solidFill>
                <a:latin typeface="Calibri"/>
              </a:rPr>
              <a:t>Two interaction flags — NPM1+/FLT3− (favorable AML), and TP53+ × complex karyotype (high-risk MDS/AML).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A66"/>
                </a:solidFill>
                <a:latin typeface="Calibri"/>
              </a:rPr>
              <a:t>QRT — Overall Survival Prediction for Myeloid Leukemia · Chawki Nasrallah,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5A66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371600" cy="38100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A1A1F"/>
                </a:solidFill>
                <a:latin typeface="Calibri"/>
              </a:rPr>
              <a:t>Specialist: cross-cohort augmentation via propensity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A66"/>
                </a:solidFill>
                <a:latin typeface="Calibri"/>
              </a:rPr>
              <a:t>Pull external patients matched to the QRT high-blast test region.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555A66"/>
                </a:solidFill>
                <a:latin typeface="Calibri"/>
              </a:rPr>
              <a:t>How the propensity classifier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11430000" cy="1737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B83A3A"/>
                </a:solidFill>
                <a:latin typeface="Calibri"/>
              </a:rPr>
              <a:t>■  </a:t>
            </a:r>
            <a:r>
              <a:rPr sz="1200">
                <a:solidFill>
                  <a:srgbClr val="1A1A1F"/>
                </a:solidFill>
                <a:latin typeface="Calibri"/>
              </a:rPr>
              <a:t>Label QRT test patients with BM blast ≥ 20% as 1; label all Tazi 2022 NEJM Evidence cohort patients as 0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B83A3A"/>
                </a:solidFill>
                <a:latin typeface="Calibri"/>
              </a:rPr>
              <a:t>■  </a:t>
            </a:r>
            <a:r>
              <a:rPr sz="1200">
                <a:solidFill>
                  <a:srgbClr val="1A1A1F"/>
                </a:solidFill>
                <a:latin typeface="Calibri"/>
              </a:rPr>
              <a:t>Train LightGBM 5-fold to discriminate, on raw inputs only (no engineered scores)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B83A3A"/>
                </a:solidFill>
                <a:latin typeface="Calibri"/>
              </a:rPr>
              <a:t>■  </a:t>
            </a:r>
            <a:r>
              <a:rPr sz="1200">
                <a:solidFill>
                  <a:srgbClr val="1A1A1F"/>
                </a:solidFill>
                <a:latin typeface="Calibri"/>
              </a:rPr>
              <a:t>Sort Tazi by P(label=1); keep the top 583 — most similar to underserved AML region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519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B83A3A"/>
                </a:solidFill>
                <a:latin typeface="Calibri"/>
              </a:rPr>
              <a:t>Why K = 583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1772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F"/>
                </a:solidFill>
                <a:latin typeface="Calibri"/>
              </a:rPr>
              <a:t>Sized to match the public test's AML share.  Adding 583 high-blast Tazi patients to the 3,173 QRT train cohort lifts the augmented train AML share from ≈5% to ≈19% — the same AML share as the public test set.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2519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B83A3A"/>
                </a:solidFill>
                <a:latin typeface="Calibri"/>
              </a:rPr>
              <a:t>Why raw inputs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61772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F"/>
                </a:solidFill>
                <a:latin typeface="Calibri"/>
              </a:rPr>
              <a:t>Engineered features (IPSS-M, TP53 multihit) inside the propensity model would correlate selection criteria with the specialist's own scoring — a feedback loop that narrows the augmented distribution. Worth +0.0011 public LB.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A66"/>
                </a:solidFill>
                <a:latin typeface="Calibri"/>
              </a:rPr>
              <a:t>QRT — Overall Survival Prediction for Myeloid Leukemia · Chawki Nasrallah,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5A66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371600" cy="38100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1F"/>
                </a:solidFill>
                <a:latin typeface="Calibri"/>
              </a:rPr>
              <a:t>Rank-blending: scale-invariant complementarity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A1A1F"/>
                </a:solidFill>
                <a:latin typeface="Calibri"/>
              </a:rPr>
              <a:t>The two models output incompatible scales: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A66"/>
                </a:solidFill>
                <a:latin typeface="Calibri"/>
              </a:rPr>
              <a:t>Baseline range: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3317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1F"/>
                </a:solidFill>
                <a:latin typeface="Consolas"/>
              </a:rPr>
              <a:t>~[218,  2039]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9260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A66"/>
                </a:solidFill>
                <a:latin typeface="Calibri"/>
              </a:rPr>
              <a:t>Specialist range: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8803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1F"/>
                </a:solidFill>
                <a:latin typeface="Consolas"/>
              </a:rPr>
              <a:t>~[127,  1204]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B83A3A"/>
                </a:solidFill>
                <a:latin typeface="Calibri"/>
              </a:rPr>
              <a:t>→ Raw averaging lets the baseline dominate by scale alone.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480560"/>
            <a:ext cx="11247120" cy="12700"/>
          </a:xfrm>
          <a:prstGeom prst="rect">
            <a:avLst/>
          </a:prstGeom>
          <a:solidFill>
            <a:srgbClr val="C9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6634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1F"/>
                </a:solidFill>
                <a:latin typeface="Calibri"/>
              </a:rPr>
              <a:t>Convert to ranks, then blend.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2120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D6A4F"/>
                </a:solidFill>
                <a:latin typeface="Consolas"/>
              </a:rPr>
              <a:t>final  =  0.30 · rank(baseline)  +  0.70 · rank(specialist)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52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55A66"/>
                </a:solidFill>
                <a:latin typeface="Calibri"/>
              </a:rPr>
              <a:t>Also matches IPCW-C's geometry — the metric scores pairwise orderings, not magnitudes.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A66"/>
                </a:solidFill>
                <a:latin typeface="Calibri"/>
              </a:rPr>
              <a:t>QRT — Overall Survival Prediction for Myeloid Leukemia · Chawki Nasrallah,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5A66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371600" cy="38100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A1F"/>
                </a:solidFill>
                <a:latin typeface="Calibri"/>
              </a:rPr>
              <a:t>Ablation: the augmentation is the load-bearing element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55A66"/>
                </a:solidFill>
                <a:latin typeface="Calibri"/>
              </a:rPr>
              <a:t>Each piece earning its keep on the public LB.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55A66"/>
                </a:solidFill>
                <a:latin typeface="Calibri"/>
              </a:rPr>
              <a:t>Variant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40" y="21031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55A66"/>
                </a:solidFill>
                <a:latin typeface="Calibri"/>
              </a:rPr>
              <a:t>Spec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10312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555A66"/>
                </a:solidFill>
                <a:latin typeface="Calibri"/>
              </a:rPr>
              <a:t>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1031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555A66"/>
                </a:solidFill>
                <a:latin typeface="Calibri"/>
              </a:rPr>
              <a:t>Public LB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1031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555A66"/>
                </a:solidFill>
                <a:latin typeface="Calibri"/>
              </a:rPr>
              <a:t>Δ vs v12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06040"/>
            <a:ext cx="9326880" cy="12700"/>
          </a:xfrm>
          <a:prstGeom prst="rect">
            <a:avLst/>
          </a:prstGeom>
          <a:solidFill>
            <a:srgbClr val="C9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889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Calibri"/>
              </a:rPr>
              <a:t>v12 baseline alone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7889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Calibri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78892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1A1A1F"/>
                </a:solidFill>
                <a:latin typeface="Consolas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7889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1A1A1F"/>
                </a:solidFill>
                <a:latin typeface="Consolas"/>
              </a:rPr>
              <a:t>0.7637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7889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1A1A1F"/>
                </a:solidFill>
                <a:latin typeface="Consolas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461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Calibri"/>
              </a:rPr>
              <a:t>Specialist alone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32461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Calibri"/>
              </a:rPr>
              <a:t>QRT + Tazi-583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24612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1A1A1F"/>
                </a:solidFill>
                <a:latin typeface="Consolas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2461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1A1A1F"/>
                </a:solidFill>
                <a:latin typeface="Consolas"/>
              </a:rPr>
              <a:t>0.7645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2461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1A1A1F"/>
                </a:solidFill>
                <a:latin typeface="Consolas"/>
              </a:rPr>
              <a:t>+0.0008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7033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F"/>
                </a:solidFill>
                <a:latin typeface="Calibri"/>
              </a:rPr>
              <a:t>Spec + v12, NO augmentation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40" y="37033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Calibri"/>
              </a:rPr>
              <a:t>QRT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70332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1A1A1F"/>
                </a:solidFill>
                <a:latin typeface="Consolas"/>
              </a:rPr>
              <a:t>0.50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7033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B83A3A"/>
                </a:solidFill>
                <a:latin typeface="Consolas"/>
              </a:rPr>
              <a:t>0.7584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7033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B83A3A"/>
                </a:solidFill>
                <a:latin typeface="Consolas"/>
              </a:rPr>
              <a:t>−0.0053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1605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Calibri"/>
              </a:rPr>
              <a:t>Spec + v12, with augmentation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40" y="41605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Calibri"/>
              </a:rPr>
              <a:t>QRT + Tazi-583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16052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1A1A1F"/>
                </a:solidFill>
                <a:latin typeface="Consolas"/>
              </a:rPr>
              <a:t>0.50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41605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1A1A1F"/>
                </a:solidFill>
                <a:latin typeface="Consolas"/>
              </a:rPr>
              <a:t>0.7674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41605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1A1A1F"/>
                </a:solidFill>
                <a:latin typeface="Consolas"/>
              </a:rPr>
              <a:t>+0.0037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617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F"/>
                </a:solidFill>
                <a:latin typeface="Calibri"/>
              </a:rPr>
              <a:t>Final (v22, Option C)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40" y="46177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Calibri"/>
              </a:rPr>
              <a:t>QRT + Tazi-583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61772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1A1A1F"/>
                </a:solidFill>
                <a:latin typeface="Consolas"/>
              </a:rPr>
              <a:t>0.30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46177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2D6A4F"/>
                </a:solidFill>
                <a:latin typeface="Consolas"/>
              </a:rPr>
              <a:t>0.7685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46177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2D6A4F"/>
                </a:solidFill>
                <a:latin typeface="Consolas"/>
              </a:rPr>
              <a:t>+0.0048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303520"/>
            <a:ext cx="11247120" cy="12700"/>
          </a:xfrm>
          <a:prstGeom prst="rect">
            <a:avLst/>
          </a:prstGeom>
          <a:solidFill>
            <a:srgbClr val="C9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440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F"/>
                </a:solidFill>
                <a:latin typeface="Calibri"/>
              </a:rPr>
              <a:t>Apples-to-apples at α=0.50:  Tazi augmentation alone moves the blend +0.0090 (0.7584 → 0.7674).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83A3A"/>
                </a:solidFill>
                <a:latin typeface="Calibri"/>
              </a:rPr>
              <a:t>Without augmentation, the specialist drags the blend BELOW v12 alone (−0.0053).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A66"/>
                </a:solidFill>
                <a:latin typeface="Calibri"/>
              </a:rPr>
              <a:t>QRT — Overall Survival Prediction for Myeloid Leukemia · Chawki Nasrallah,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5A66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371600" cy="38100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A1F"/>
                </a:solidFill>
                <a:latin typeface="Calibri"/>
              </a:rPr>
              <a:t>Public leaderboard: rank 11 / 743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55A66"/>
                </a:solidFill>
                <a:latin typeface="Calibri"/>
              </a:rPr>
              <a:t>Rank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20116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55A66"/>
                </a:solidFill>
                <a:latin typeface="Calibri"/>
              </a:rPr>
              <a:t>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0116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55A66"/>
                </a:solidFill>
                <a:latin typeface="Calibri"/>
              </a:rPr>
              <a:t>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514600"/>
            <a:ext cx="10607040" cy="12700"/>
          </a:xfrm>
          <a:prstGeom prst="rect">
            <a:avLst/>
          </a:prstGeom>
          <a:solidFill>
            <a:srgbClr val="C9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A1A1F"/>
                </a:solidFill>
                <a:latin typeface="Consola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6974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A1A1F"/>
                </a:solidFill>
                <a:latin typeface="Consolas"/>
              </a:rPr>
              <a:t>0.7739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6974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A1A1F"/>
                </a:solidFill>
                <a:latin typeface="Calibri"/>
              </a:rPr>
              <a:t>ocercle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4612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A1A1F"/>
                </a:solidFill>
                <a:latin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324612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A1A1F"/>
                </a:solidFill>
                <a:latin typeface="Consolas"/>
              </a:rPr>
              <a:t>0.7732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32461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A1A1F"/>
                </a:solidFill>
                <a:latin typeface="Calibri"/>
              </a:rPr>
              <a:t>qrtmieuxquecitadel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9476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A1A1F"/>
                </a:solidFill>
                <a:latin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79476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A1A1F"/>
                </a:solidFill>
                <a:latin typeface="Consolas"/>
              </a:rPr>
              <a:t>0.7732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79476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A1A1F"/>
                </a:solidFill>
                <a:latin typeface="Calibri"/>
              </a:rPr>
              <a:t>Astra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4340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A1A1F"/>
                </a:solidFill>
                <a:latin typeface="Consolas"/>
              </a:rPr>
              <a:t>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3434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A1A1F"/>
                </a:solidFill>
                <a:latin typeface="Consolas"/>
              </a:rPr>
              <a:t>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43434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A1A1F"/>
                </a:solidFill>
                <a:latin typeface="Calibri"/>
              </a:rPr>
              <a:t>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9204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D6A4F"/>
                </a:solidFill>
                <a:latin typeface="Consolas"/>
              </a:rPr>
              <a:t>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489204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D6A4F"/>
                </a:solidFill>
                <a:latin typeface="Consolas"/>
              </a:rPr>
              <a:t>0.7685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489204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D6A4F"/>
                </a:solidFill>
                <a:latin typeface="Calibri"/>
              </a:rPr>
              <a:t>chawkinas  (me)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852160"/>
            <a:ext cx="11247120" cy="12700"/>
          </a:xfrm>
          <a:prstGeom prst="rect">
            <a:avLst/>
          </a:prstGeom>
          <a:solidFill>
            <a:srgbClr val="C9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989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55A66"/>
                </a:solidFill>
                <a:latin typeface="Calibri"/>
              </a:rPr>
              <a:t>Top of the public leaderboard at 0.7739 — within 0.0054 of my score.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A66"/>
                </a:solidFill>
                <a:latin typeface="Calibri"/>
              </a:rPr>
              <a:t>QRT — Overall Survival Prediction for Myeloid Leukemia · Chawki Nasrallah,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5A66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371600" cy="38100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A1F"/>
                </a:solidFill>
                <a:latin typeface="Calibri"/>
              </a:rPr>
              <a:t>Private leaderboard: a 5-point shake-up across the field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55A66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1031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55A66"/>
                </a:solidFill>
                <a:latin typeface="Calibri"/>
              </a:rPr>
              <a:t>Public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031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55A66"/>
                </a:solidFill>
                <a:latin typeface="Calibri"/>
              </a:rPr>
              <a:t>Private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1031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55A66"/>
                </a:solidFill>
                <a:latin typeface="Calibri"/>
              </a:rPr>
              <a:t>Drop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606040"/>
            <a:ext cx="9601200" cy="12700"/>
          </a:xfrm>
          <a:prstGeom prst="rect">
            <a:avLst/>
          </a:prstGeom>
          <a:solidFill>
            <a:srgbClr val="C9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A1A1F"/>
                </a:solidFill>
                <a:latin typeface="Calibri"/>
              </a:rPr>
              <a:t>Top of LB (rank 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8803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A1A1F"/>
                </a:solidFill>
                <a:latin typeface="Consolas"/>
              </a:rPr>
              <a:t>0.7739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8803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A1A1F"/>
                </a:solidFill>
                <a:latin typeface="Consolas"/>
              </a:rPr>
              <a:t>0.7231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8803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83A3A"/>
                </a:solidFill>
                <a:latin typeface="Consolas"/>
              </a:rPr>
              <a:t>−0.0508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6616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D6A4F"/>
                </a:solidFill>
                <a:latin typeface="Calibri"/>
              </a:rPr>
              <a:t>chawkinas  (me)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5661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F"/>
                </a:solidFill>
                <a:latin typeface="Consolas"/>
              </a:rPr>
              <a:t>0.7685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5661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F"/>
                </a:solidFill>
                <a:latin typeface="Consolas"/>
              </a:rPr>
              <a:t>0.7124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5661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83A3A"/>
                </a:solidFill>
                <a:latin typeface="Consolas"/>
              </a:rPr>
              <a:t>−0.0561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029200"/>
            <a:ext cx="11247120" cy="12700"/>
          </a:xfrm>
          <a:prstGeom prst="rect">
            <a:avLst/>
          </a:prstGeom>
          <a:solidFill>
            <a:srgbClr val="C9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166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A1F"/>
                </a:solidFill>
                <a:latin typeface="Calibri"/>
              </a:rPr>
              <a:t>The entire field shook up — top public 0.7739 → top private 0.7231 (−0.0508).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623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55A66"/>
                </a:solidFill>
                <a:latin typeface="Calibri"/>
              </a:rPr>
              <a:t>My drop is 0.0053 worse than the winner's — within ~0.005 of the rest of the top of the public LB.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55A66"/>
                </a:solidFill>
                <a:latin typeface="Calibri"/>
              </a:rPr>
              <a:t>For reference: organisers' benchmark scored 0.6411 on private (rank 678) — beat it by +0.0713.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A66"/>
                </a:solidFill>
                <a:latin typeface="Calibri"/>
              </a:rPr>
              <a:t>QRT — Overall Survival Prediction for Myeloid Leukemia · Chawki Nasrallah,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5A66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371600" cy="38100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1F"/>
                </a:solidFill>
                <a:latin typeface="Calibri"/>
              </a:rPr>
              <a:t>Technical lessons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55A66"/>
                </a:solidFill>
                <a:latin typeface="Calibri"/>
              </a:rPr>
              <a:t>Three findings that transfer beyond this project.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A1F"/>
                </a:solidFill>
                <a:latin typeface="Calibri"/>
              </a:rPr>
              <a:t>1.  Components that fail individually can win in combination.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5A66"/>
                </a:solidFill>
                <a:latin typeface="Calibri"/>
              </a:rPr>
              <a:t>Specialist alone −0.0040 LB · Tazi augmentation alone −0.0033 · combined →  +0.0048 over v12.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1A1A1F"/>
                </a:solidFill>
                <a:latin typeface="Calibri"/>
              </a:rPr>
              <a:t>Don't drop a building block just because it loses standalone — multi-component systems with complementary errors can beat the sum of their parts.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A1F"/>
                </a:solidFill>
                <a:latin typeface="Calibri"/>
              </a:rPr>
              <a:t>2.  Feature-schema design enables cross-cohort augmentation.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77639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5A66"/>
                </a:solidFill>
                <a:latin typeface="Calibri"/>
              </a:rPr>
              <a:t>Same 583 Tazi patients: into baseline's 1,800 sparse features →  −0.0033 LB;  into specialist's 23 shared features →  +0.0090 swing.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1A1A1F"/>
                </a:solidFill>
                <a:latin typeface="Calibri"/>
              </a:rPr>
              <a:t>More data isn't enough — the feature vocabulary has to transfer across cohorts. Plan for transfer at the feature stage, not the model stage.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2920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A1F"/>
                </a:solidFill>
                <a:latin typeface="Calibri"/>
              </a:rPr>
              <a:t>3.  Beware feedback loops in propensity-driven selection.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4864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5A66"/>
                </a:solidFill>
                <a:latin typeface="Calibri"/>
              </a:rPr>
              <a:t>v21 propensity used engineered scores (the specialist's own signals);  v22 used raw inputs only;  +0.0011 LB from breaking the loop.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1A1A1F"/>
                </a:solidFill>
                <a:latin typeface="Calibri"/>
              </a:rPr>
              <a:t>If a selection procedure shares features with the model it serves, the model is implicitly choosing its own training data — a subtle selection bias.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A66"/>
                </a:solidFill>
                <a:latin typeface="Calibri"/>
              </a:rPr>
              <a:t>QRT — Overall Survival Prediction for Myeloid Leukemia · Chawki Nasrallah,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5A66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371600" cy="38100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1F"/>
                </a:solidFill>
                <a:latin typeface="Calibri"/>
              </a:rPr>
              <a:t>What I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55A66"/>
                </a:solidFill>
                <a:latin typeface="Calibri"/>
              </a:rPr>
              <a:t>First DS competition.  The methodology I'd defend; the iteration policy I'd change.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B83A3A"/>
                </a:solidFill>
                <a:latin typeface="Calibri"/>
              </a:rPr>
              <a:t>■  </a:t>
            </a:r>
            <a:r>
              <a:rPr sz="1600">
                <a:solidFill>
                  <a:srgbClr val="1A1A1F"/>
                </a:solidFill>
                <a:latin typeface="Calibri"/>
              </a:rPr>
              <a:t>Late-stage optimization against a public test set is itself a form of overfitting.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B83A3A"/>
                </a:solidFill>
                <a:latin typeface="Calibri"/>
              </a:rPr>
              <a:t>■  </a:t>
            </a:r>
            <a:r>
              <a:rPr sz="1600">
                <a:solidFill>
                  <a:srgbClr val="1A1A1F"/>
                </a:solidFill>
                <a:latin typeface="Calibri"/>
              </a:rPr>
              <a:t>When CV and LB disagree, trust CV — especially once per-iteration LB deltas drop below noise band (~0.003).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B83A3A"/>
                </a:solidFill>
                <a:latin typeface="Calibri"/>
              </a:rPr>
              <a:t>■  </a:t>
            </a:r>
            <a:r>
              <a:rPr sz="1600">
                <a:solidFill>
                  <a:srgbClr val="1A1A1F"/>
                </a:solidFill>
                <a:latin typeface="Calibri"/>
              </a:rPr>
              <a:t>Pick a final submission once deltas plateau; don't nudge it for marginal LB gains.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B83A3A"/>
                </a:solidFill>
                <a:latin typeface="Calibri"/>
              </a:rPr>
              <a:t>■  </a:t>
            </a:r>
            <a:r>
              <a:rPr sz="1600">
                <a:solidFill>
                  <a:srgbClr val="1A1A1F"/>
                </a:solidFill>
                <a:latin typeface="Calibri"/>
              </a:rPr>
              <a:t>Treat the public LB as a sanity check, not a continuous optimization target.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B83A3A"/>
                </a:solidFill>
                <a:latin typeface="Calibri"/>
              </a:rPr>
              <a:t>■  </a:t>
            </a:r>
            <a:r>
              <a:rPr sz="1600">
                <a:solidFill>
                  <a:srgbClr val="1A1A1F"/>
                </a:solidFill>
                <a:latin typeface="Calibri"/>
              </a:rPr>
              <a:t>A 0.001 improvement on a 1193-patient C-index is within sampling noise.  The improvement may not be real.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A66"/>
                </a:solidFill>
                <a:latin typeface="Calibri"/>
              </a:rPr>
              <a:t>QRT — Overall Survival Prediction for Myeloid Leukemia · Chawki Nasrallah,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5A66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377440"/>
            <a:ext cx="2194560" cy="50800"/>
          </a:xfrm>
          <a:prstGeom prst="rect">
            <a:avLst/>
          </a:prstGeom>
          <a:solidFill>
            <a:srgbClr val="B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1A1A1F"/>
                </a:solidFill>
                <a:latin typeface="Calibri"/>
              </a:rPr>
              <a:t>Thank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55A66"/>
                </a:solidFill>
                <a:latin typeface="Calibri"/>
              </a:rPr>
              <a:t>Code, methodology writeup, post-mortem: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1F"/>
                </a:solidFill>
                <a:latin typeface="Consolas"/>
              </a:rPr>
              <a:t>github.com/chawki-nasrallah/qrt-mds-aml-survival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A1F"/>
                </a:solidFill>
                <a:latin typeface="Calibri"/>
              </a:rPr>
              <a:t>Chawki Nasrallah  ·  chawki.gnasrallah@gmail.com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